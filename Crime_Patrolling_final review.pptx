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90" r:id="rId2"/>
    <p:sldId id="291" r:id="rId3"/>
    <p:sldId id="292" r:id="rId4"/>
    <p:sldId id="293" r:id="rId5"/>
    <p:sldId id="294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95" r:id="rId27"/>
    <p:sldId id="278" r:id="rId28"/>
    <p:sldId id="279" r:id="rId29"/>
    <p:sldId id="280" r:id="rId30"/>
    <p:sldId id="281" r:id="rId31"/>
    <p:sldId id="296" r:id="rId32"/>
    <p:sldId id="282" r:id="rId33"/>
    <p:sldId id="283" r:id="rId34"/>
    <p:sldId id="284" r:id="rId35"/>
    <p:sldId id="286" r:id="rId36"/>
    <p:sldId id="285" r:id="rId37"/>
    <p:sldId id="287" r:id="rId38"/>
    <p:sldId id="288" r:id="rId3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61881-AB17-4A2E-9CC8-F595C0958522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1375B-9126-49B9-8886-5565A1790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581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246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97511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497" y="317803"/>
            <a:ext cx="11091831" cy="1023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Statements</a:t>
            </a:r>
          </a:p>
          <a:p>
            <a:r>
              <a:rPr lang="en-US" sz="1733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crime systems fail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609" y="1524496"/>
            <a:ext cx="5545915" cy="2193989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26608" y="1524496"/>
            <a:ext cx="85322" cy="2193989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70385" y="1743895"/>
            <a:ext cx="5119307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Reactive Policing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0385" y="2255825"/>
            <a:ext cx="5119307" cy="1218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 responds only after crimes occur, limiting preventive action and wasting critical response time.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38189" y="1524496"/>
            <a:ext cx="5545915" cy="2193989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338188" y="1524496"/>
            <a:ext cx="85322" cy="2193989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1965" y="1743895"/>
            <a:ext cx="5119307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👮  Limited Resources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1965" y="2255825"/>
            <a:ext cx="5119307" cy="1218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urban populations strain police capacity, making it impossible to patrol all regions effectively.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6609" y="4023205"/>
            <a:ext cx="5545915" cy="2193989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26608" y="4023205"/>
            <a:ext cx="85322" cy="2193989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70385" y="4242604"/>
            <a:ext cx="5119307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No Predictive Intelligence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0385" y="4754534"/>
            <a:ext cx="5119307" cy="1218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lack data-driven forecasting and provide no actionable insights for optimized patrol deployment.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38189" y="4023205"/>
            <a:ext cx="5545915" cy="2193989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38188" y="4023205"/>
            <a:ext cx="85322" cy="2193989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81965" y="4242604"/>
            <a:ext cx="5119307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No Patrol Optimization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1965" y="4754534"/>
            <a:ext cx="5119307" cy="1218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spatial-temporal analysis means patrol routes are inefficient and not aligned with actual crime patterns.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6609" y="6339082"/>
            <a:ext cx="11335607" cy="390042"/>
          </a:xfrm>
          <a:prstGeom prst="rect">
            <a:avLst/>
          </a:prstGeom>
          <a:solidFill>
            <a:srgbClr val="007A67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497" y="6351271"/>
            <a:ext cx="11091831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data-driven, predictive crime patrolling system is urgently needed to enable proactive, optimized law enforcement.</a:t>
            </a:r>
            <a:endParaRPr lang="en-US" sz="146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97511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497" y="220293"/>
            <a:ext cx="11091831" cy="112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</a:p>
          <a:p>
            <a:r>
              <a:rPr lang="en-US" sz="1733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goals of the proposed system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609" y="1463552"/>
            <a:ext cx="11335607" cy="853218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26608" y="1463552"/>
            <a:ext cx="1036050" cy="85321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26608" y="1463552"/>
            <a:ext cx="1036050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6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66" dirty="0"/>
          </a:p>
        </p:txBody>
      </p:sp>
      <p:sp>
        <p:nvSpPr>
          <p:cNvPr id="8" name="Text 6"/>
          <p:cNvSpPr/>
          <p:nvPr/>
        </p:nvSpPr>
        <p:spPr>
          <a:xfrm>
            <a:off x="1645491" y="1585440"/>
            <a:ext cx="9933892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historical crime data to identify spatial and temporal patterns across regions.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426609" y="2475224"/>
            <a:ext cx="11335607" cy="853218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26608" y="2475224"/>
            <a:ext cx="1036050" cy="85321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6608" y="2475224"/>
            <a:ext cx="1036050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6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66" dirty="0"/>
          </a:p>
        </p:txBody>
      </p:sp>
      <p:sp>
        <p:nvSpPr>
          <p:cNvPr id="12" name="Text 10"/>
          <p:cNvSpPr/>
          <p:nvPr/>
        </p:nvSpPr>
        <p:spPr>
          <a:xfrm>
            <a:off x="1645491" y="2597113"/>
            <a:ext cx="9933892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crime-prone areas using K-Means clustering and Random Forest ML techniques.</a:t>
            </a:r>
            <a:endParaRPr lang="en-US" sz="1733" dirty="0"/>
          </a:p>
        </p:txBody>
      </p:sp>
      <p:sp>
        <p:nvSpPr>
          <p:cNvPr id="13" name="Shape 11"/>
          <p:cNvSpPr/>
          <p:nvPr/>
        </p:nvSpPr>
        <p:spPr>
          <a:xfrm>
            <a:off x="426609" y="3486897"/>
            <a:ext cx="11335607" cy="853218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26608" y="3486897"/>
            <a:ext cx="1036050" cy="85321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6608" y="3486897"/>
            <a:ext cx="1036050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6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66" dirty="0"/>
          </a:p>
        </p:txBody>
      </p:sp>
      <p:sp>
        <p:nvSpPr>
          <p:cNvPr id="16" name="Text 14"/>
          <p:cNvSpPr/>
          <p:nvPr/>
        </p:nvSpPr>
        <p:spPr>
          <a:xfrm>
            <a:off x="1645491" y="3608785"/>
            <a:ext cx="9933892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time periods for different regions using time-based feature analysis.</a:t>
            </a:r>
            <a:endParaRPr lang="en-US" sz="1733" dirty="0"/>
          </a:p>
        </p:txBody>
      </p:sp>
      <p:sp>
        <p:nvSpPr>
          <p:cNvPr id="17" name="Shape 15"/>
          <p:cNvSpPr/>
          <p:nvPr/>
        </p:nvSpPr>
        <p:spPr>
          <a:xfrm>
            <a:off x="426609" y="4498569"/>
            <a:ext cx="11335607" cy="853218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26608" y="4498569"/>
            <a:ext cx="1036050" cy="85321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26608" y="4498569"/>
            <a:ext cx="1036050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6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66" dirty="0"/>
          </a:p>
        </p:txBody>
      </p:sp>
      <p:sp>
        <p:nvSpPr>
          <p:cNvPr id="20" name="Text 18"/>
          <p:cNvSpPr/>
          <p:nvPr/>
        </p:nvSpPr>
        <p:spPr>
          <a:xfrm>
            <a:off x="1645491" y="4620458"/>
            <a:ext cx="9933892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law enforcement agencies in proactive, intelligence-driven crime patrolling.</a:t>
            </a:r>
            <a:endParaRPr lang="en-US" sz="1733" dirty="0"/>
          </a:p>
        </p:txBody>
      </p:sp>
      <p:sp>
        <p:nvSpPr>
          <p:cNvPr id="21" name="Shape 19"/>
          <p:cNvSpPr/>
          <p:nvPr/>
        </p:nvSpPr>
        <p:spPr>
          <a:xfrm>
            <a:off x="426609" y="5510242"/>
            <a:ext cx="11335607" cy="853218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26608" y="5510242"/>
            <a:ext cx="1036050" cy="85321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26608" y="5510242"/>
            <a:ext cx="1036050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6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66" dirty="0"/>
          </a:p>
        </p:txBody>
      </p:sp>
      <p:sp>
        <p:nvSpPr>
          <p:cNvPr id="24" name="Text 22"/>
          <p:cNvSpPr/>
          <p:nvPr/>
        </p:nvSpPr>
        <p:spPr>
          <a:xfrm>
            <a:off x="1645491" y="5632130"/>
            <a:ext cx="9933892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utilization of limited patrolling resources through data-driven insights.</a:t>
            </a:r>
            <a:endParaRPr lang="en-US" sz="17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97511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3" name="Text 1"/>
          <p:cNvSpPr/>
          <p:nvPr/>
        </p:nvSpPr>
        <p:spPr>
          <a:xfrm>
            <a:off x="548497" y="220292"/>
            <a:ext cx="11091831" cy="755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3732" dirty="0"/>
          </a:p>
        </p:txBody>
      </p:sp>
      <p:sp>
        <p:nvSpPr>
          <p:cNvPr id="4" name="Text 2"/>
          <p:cNvSpPr/>
          <p:nvPr/>
        </p:nvSpPr>
        <p:spPr>
          <a:xfrm>
            <a:off x="548497" y="269047"/>
            <a:ext cx="11091831" cy="1072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</a:p>
          <a:p>
            <a:r>
              <a:rPr lang="en-US" sz="1733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literature is missing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609" y="1463552"/>
            <a:ext cx="5484971" cy="463175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6" name="Text 4"/>
          <p:cNvSpPr/>
          <p:nvPr/>
        </p:nvSpPr>
        <p:spPr>
          <a:xfrm>
            <a:off x="426609" y="1463552"/>
            <a:ext cx="5484971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Gap in Literature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4412" y="1463552"/>
            <a:ext cx="5667804" cy="463175"/>
          </a:xfrm>
          <a:prstGeom prst="rect">
            <a:avLst/>
          </a:prstGeom>
          <a:solidFill>
            <a:srgbClr val="007A67"/>
          </a:solidFill>
          <a:ln w="12700">
            <a:solidFill>
              <a:srgbClr val="007A67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8" name="Text 6"/>
          <p:cNvSpPr/>
          <p:nvPr/>
        </p:nvSpPr>
        <p:spPr>
          <a:xfrm>
            <a:off x="6094412" y="1463552"/>
            <a:ext cx="566780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Contribution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6609" y="2048615"/>
            <a:ext cx="5484971" cy="926351"/>
          </a:xfrm>
          <a:prstGeom prst="rect">
            <a:avLst/>
          </a:prstGeom>
          <a:solidFill>
            <a:srgbClr val="1A0808"/>
          </a:solidFill>
          <a:ln w="12700">
            <a:solidFill>
              <a:srgbClr val="8B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10" name="Text 8"/>
          <p:cNvSpPr/>
          <p:nvPr/>
        </p:nvSpPr>
        <p:spPr>
          <a:xfrm>
            <a:off x="609441" y="2146126"/>
            <a:ext cx="5119307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focus only on crime hotspot prediction</a:t>
            </a:r>
            <a:endParaRPr lang="en-US" sz="1533" dirty="0"/>
          </a:p>
        </p:txBody>
      </p:sp>
      <p:sp>
        <p:nvSpPr>
          <p:cNvPr id="11" name="Shape 9"/>
          <p:cNvSpPr/>
          <p:nvPr/>
        </p:nvSpPr>
        <p:spPr>
          <a:xfrm>
            <a:off x="6094412" y="2048615"/>
            <a:ext cx="5667804" cy="926351"/>
          </a:xfrm>
          <a:prstGeom prst="rect">
            <a:avLst/>
          </a:prstGeom>
          <a:solidFill>
            <a:srgbClr val="041A17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12" name="Text 10"/>
          <p:cNvSpPr/>
          <p:nvPr/>
        </p:nvSpPr>
        <p:spPr>
          <a:xfrm>
            <a:off x="6277244" y="2146126"/>
            <a:ext cx="5302139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3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convert predictions into patrol strategies</a:t>
            </a:r>
            <a:endParaRPr lang="en-US" sz="1533" dirty="0"/>
          </a:p>
        </p:txBody>
      </p:sp>
      <p:sp>
        <p:nvSpPr>
          <p:cNvPr id="13" name="Shape 11"/>
          <p:cNvSpPr/>
          <p:nvPr/>
        </p:nvSpPr>
        <p:spPr>
          <a:xfrm>
            <a:off x="5935957" y="2414280"/>
            <a:ext cx="158455" cy="195021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14" name="Shape 12"/>
          <p:cNvSpPr/>
          <p:nvPr/>
        </p:nvSpPr>
        <p:spPr>
          <a:xfrm>
            <a:off x="426609" y="3145610"/>
            <a:ext cx="5484971" cy="926351"/>
          </a:xfrm>
          <a:prstGeom prst="rect">
            <a:avLst/>
          </a:prstGeom>
          <a:solidFill>
            <a:srgbClr val="1A0808"/>
          </a:solidFill>
          <a:ln w="12700">
            <a:solidFill>
              <a:srgbClr val="8B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15" name="Text 13"/>
          <p:cNvSpPr/>
          <p:nvPr/>
        </p:nvSpPr>
        <p:spPr>
          <a:xfrm>
            <a:off x="609441" y="3243120"/>
            <a:ext cx="5119307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work on prediction → patrolling strategies</a:t>
            </a:r>
            <a:endParaRPr lang="en-US" sz="1533" dirty="0"/>
          </a:p>
        </p:txBody>
      </p:sp>
      <p:sp>
        <p:nvSpPr>
          <p:cNvPr id="16" name="Shape 14"/>
          <p:cNvSpPr/>
          <p:nvPr/>
        </p:nvSpPr>
        <p:spPr>
          <a:xfrm>
            <a:off x="6094412" y="3145610"/>
            <a:ext cx="5667804" cy="926351"/>
          </a:xfrm>
          <a:prstGeom prst="rect">
            <a:avLst/>
          </a:prstGeom>
          <a:solidFill>
            <a:srgbClr val="041A17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17" name="Text 15"/>
          <p:cNvSpPr/>
          <p:nvPr/>
        </p:nvSpPr>
        <p:spPr>
          <a:xfrm>
            <a:off x="6277244" y="3243120"/>
            <a:ext cx="5302139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3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patrol optimization with specific zones</a:t>
            </a:r>
            <a:endParaRPr lang="en-US" sz="1533" dirty="0"/>
          </a:p>
        </p:txBody>
      </p:sp>
      <p:sp>
        <p:nvSpPr>
          <p:cNvPr id="18" name="Shape 16"/>
          <p:cNvSpPr/>
          <p:nvPr/>
        </p:nvSpPr>
        <p:spPr>
          <a:xfrm>
            <a:off x="5935957" y="3511275"/>
            <a:ext cx="158455" cy="195021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19" name="Shape 17"/>
          <p:cNvSpPr/>
          <p:nvPr/>
        </p:nvSpPr>
        <p:spPr>
          <a:xfrm>
            <a:off x="426609" y="4242604"/>
            <a:ext cx="5484971" cy="926351"/>
          </a:xfrm>
          <a:prstGeom prst="rect">
            <a:avLst/>
          </a:prstGeom>
          <a:solidFill>
            <a:srgbClr val="1A0808"/>
          </a:solidFill>
          <a:ln w="12700">
            <a:solidFill>
              <a:srgbClr val="8B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20" name="Text 18"/>
          <p:cNvSpPr/>
          <p:nvPr/>
        </p:nvSpPr>
        <p:spPr>
          <a:xfrm>
            <a:off x="609441" y="4340114"/>
            <a:ext cx="5119307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models consider time-based patrolling intelligence</a:t>
            </a:r>
            <a:endParaRPr lang="en-US" sz="1533" dirty="0"/>
          </a:p>
        </p:txBody>
      </p:sp>
      <p:sp>
        <p:nvSpPr>
          <p:cNvPr id="21" name="Shape 19"/>
          <p:cNvSpPr/>
          <p:nvPr/>
        </p:nvSpPr>
        <p:spPr>
          <a:xfrm>
            <a:off x="6094412" y="4242604"/>
            <a:ext cx="5667804" cy="926351"/>
          </a:xfrm>
          <a:prstGeom prst="rect">
            <a:avLst/>
          </a:prstGeom>
          <a:solidFill>
            <a:srgbClr val="041A17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22" name="Text 20"/>
          <p:cNvSpPr/>
          <p:nvPr/>
        </p:nvSpPr>
        <p:spPr>
          <a:xfrm>
            <a:off x="6277244" y="4340114"/>
            <a:ext cx="5302139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3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micro-zone prediction (peak hours, days)</a:t>
            </a:r>
            <a:endParaRPr lang="en-US" sz="1533" dirty="0"/>
          </a:p>
        </p:txBody>
      </p:sp>
      <p:sp>
        <p:nvSpPr>
          <p:cNvPr id="23" name="Shape 21"/>
          <p:cNvSpPr/>
          <p:nvPr/>
        </p:nvSpPr>
        <p:spPr>
          <a:xfrm>
            <a:off x="5935957" y="4608269"/>
            <a:ext cx="158455" cy="195021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24" name="Shape 22"/>
          <p:cNvSpPr/>
          <p:nvPr/>
        </p:nvSpPr>
        <p:spPr>
          <a:xfrm>
            <a:off x="426609" y="5339598"/>
            <a:ext cx="5484971" cy="926351"/>
          </a:xfrm>
          <a:prstGeom prst="rect">
            <a:avLst/>
          </a:prstGeom>
          <a:solidFill>
            <a:srgbClr val="1A0808"/>
          </a:solidFill>
          <a:ln w="12700">
            <a:solidFill>
              <a:srgbClr val="8B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25" name="Text 23"/>
          <p:cNvSpPr/>
          <p:nvPr/>
        </p:nvSpPr>
        <p:spPr>
          <a:xfrm>
            <a:off x="609441" y="5437109"/>
            <a:ext cx="5119307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decision support is underexplored</a:t>
            </a:r>
            <a:endParaRPr lang="en-US" sz="1533" dirty="0"/>
          </a:p>
        </p:txBody>
      </p:sp>
      <p:sp>
        <p:nvSpPr>
          <p:cNvPr id="26" name="Shape 24"/>
          <p:cNvSpPr/>
          <p:nvPr/>
        </p:nvSpPr>
        <p:spPr>
          <a:xfrm>
            <a:off x="6094412" y="5339598"/>
            <a:ext cx="5667804" cy="926351"/>
          </a:xfrm>
          <a:prstGeom prst="rect">
            <a:avLst/>
          </a:prstGeom>
          <a:solidFill>
            <a:srgbClr val="041A17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27" name="Text 25"/>
          <p:cNvSpPr/>
          <p:nvPr/>
        </p:nvSpPr>
        <p:spPr>
          <a:xfrm>
            <a:off x="6277244" y="5437109"/>
            <a:ext cx="5302139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3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actionable recommendations for law enforcement</a:t>
            </a:r>
            <a:endParaRPr lang="en-US" sz="1533" dirty="0"/>
          </a:p>
        </p:txBody>
      </p:sp>
      <p:sp>
        <p:nvSpPr>
          <p:cNvPr id="28" name="Shape 26"/>
          <p:cNvSpPr/>
          <p:nvPr/>
        </p:nvSpPr>
        <p:spPr>
          <a:xfrm>
            <a:off x="5935957" y="5705263"/>
            <a:ext cx="158455" cy="195021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97511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3" name="Text 1"/>
          <p:cNvSpPr/>
          <p:nvPr/>
        </p:nvSpPr>
        <p:spPr>
          <a:xfrm>
            <a:off x="548497" y="220292"/>
            <a:ext cx="11091831" cy="755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Used</a:t>
            </a:r>
            <a:endParaRPr lang="en-US" sz="3732" dirty="0"/>
          </a:p>
        </p:txBody>
      </p:sp>
      <p:sp>
        <p:nvSpPr>
          <p:cNvPr id="4" name="Text 2"/>
          <p:cNvSpPr/>
          <p:nvPr/>
        </p:nvSpPr>
        <p:spPr>
          <a:xfrm>
            <a:off x="548497" y="220293"/>
            <a:ext cx="11091831" cy="112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Algorithm used</a:t>
            </a:r>
          </a:p>
          <a:p>
            <a:r>
              <a:rPr lang="en-US" sz="1733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techniques powering the proposed system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365664" y="1463552"/>
            <a:ext cx="3717592" cy="2315877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6" name="Shape 4"/>
          <p:cNvSpPr/>
          <p:nvPr/>
        </p:nvSpPr>
        <p:spPr>
          <a:xfrm>
            <a:off x="511930" y="1609818"/>
            <a:ext cx="1218883" cy="341287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7" name="Text 5"/>
          <p:cNvSpPr/>
          <p:nvPr/>
        </p:nvSpPr>
        <p:spPr>
          <a:xfrm>
            <a:off x="511930" y="1609818"/>
            <a:ext cx="121888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6308" y="2072993"/>
            <a:ext cx="3388493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K-Means Clustering</a:t>
            </a:r>
            <a:endParaRPr lang="en-US" sz="1666" dirty="0"/>
          </a:p>
        </p:txBody>
      </p:sp>
      <p:sp>
        <p:nvSpPr>
          <p:cNvPr id="9" name="Text 7"/>
          <p:cNvSpPr/>
          <p:nvPr/>
        </p:nvSpPr>
        <p:spPr>
          <a:xfrm>
            <a:off x="536308" y="2621490"/>
            <a:ext cx="3388493" cy="999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crime locations into spatial clusters to identify high-risk and low-risk crime hotspots.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0466" y="1463552"/>
            <a:ext cx="3717592" cy="2315877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11" name="Shape 9"/>
          <p:cNvSpPr/>
          <p:nvPr/>
        </p:nvSpPr>
        <p:spPr>
          <a:xfrm>
            <a:off x="4436732" y="1609818"/>
            <a:ext cx="1218883" cy="341287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12" name="Text 10"/>
          <p:cNvSpPr/>
          <p:nvPr/>
        </p:nvSpPr>
        <p:spPr>
          <a:xfrm>
            <a:off x="4436732" y="1609818"/>
            <a:ext cx="121888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61110" y="2072993"/>
            <a:ext cx="3388493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Hybrid system</a:t>
            </a:r>
            <a:endParaRPr lang="en-US" sz="1666" dirty="0"/>
          </a:p>
        </p:txBody>
      </p:sp>
      <p:sp>
        <p:nvSpPr>
          <p:cNvPr id="14" name="Text 12"/>
          <p:cNvSpPr/>
          <p:nvPr/>
        </p:nvSpPr>
        <p:spPr>
          <a:xfrm>
            <a:off x="4461110" y="2621490"/>
            <a:ext cx="3388493" cy="999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crime-prone areas by learning complex patterns from historical crime data with high accuracy.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15267" y="1463552"/>
            <a:ext cx="3717592" cy="2315877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16" name="Shape 14"/>
          <p:cNvSpPr/>
          <p:nvPr/>
        </p:nvSpPr>
        <p:spPr>
          <a:xfrm>
            <a:off x="8361533" y="1609818"/>
            <a:ext cx="1218883" cy="341287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17" name="Text 15"/>
          <p:cNvSpPr/>
          <p:nvPr/>
        </p:nvSpPr>
        <p:spPr>
          <a:xfrm>
            <a:off x="8361533" y="1609818"/>
            <a:ext cx="121888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85911" y="2072993"/>
            <a:ext cx="3388493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Logistic Regression</a:t>
            </a:r>
            <a:endParaRPr lang="en-US" sz="1666" dirty="0"/>
          </a:p>
        </p:txBody>
      </p:sp>
      <p:sp>
        <p:nvSpPr>
          <p:cNvPr id="19" name="Text 17"/>
          <p:cNvSpPr/>
          <p:nvPr/>
        </p:nvSpPr>
        <p:spPr>
          <a:xfrm>
            <a:off x="8385911" y="2621490"/>
            <a:ext cx="3388493" cy="999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probability of crime occurrence in a given area and time using historical features.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664" y="4084149"/>
            <a:ext cx="3717592" cy="2315877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21" name="Shape 19"/>
          <p:cNvSpPr/>
          <p:nvPr/>
        </p:nvSpPr>
        <p:spPr>
          <a:xfrm>
            <a:off x="511930" y="4230415"/>
            <a:ext cx="1218883" cy="341287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22" name="Text 20"/>
          <p:cNvSpPr/>
          <p:nvPr/>
        </p:nvSpPr>
        <p:spPr>
          <a:xfrm>
            <a:off x="511930" y="4230415"/>
            <a:ext cx="121888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6308" y="4693590"/>
            <a:ext cx="3388493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Time-Based Feature Analysis</a:t>
            </a:r>
            <a:endParaRPr lang="en-US" sz="1666" dirty="0"/>
          </a:p>
        </p:txBody>
      </p:sp>
      <p:sp>
        <p:nvSpPr>
          <p:cNvPr id="24" name="Text 22"/>
          <p:cNvSpPr/>
          <p:nvPr/>
        </p:nvSpPr>
        <p:spPr>
          <a:xfrm>
            <a:off x="536308" y="5242088"/>
            <a:ext cx="3388493" cy="999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temporal patterns: peak crime hours, weekday vs. weekend, seasonal variations.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90466" y="4084149"/>
            <a:ext cx="3717592" cy="2315877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26" name="Shape 24"/>
          <p:cNvSpPr/>
          <p:nvPr/>
        </p:nvSpPr>
        <p:spPr>
          <a:xfrm>
            <a:off x="4436732" y="4230415"/>
            <a:ext cx="1218883" cy="341287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27" name="Text 25"/>
          <p:cNvSpPr/>
          <p:nvPr/>
        </p:nvSpPr>
        <p:spPr>
          <a:xfrm>
            <a:off x="4436732" y="4230415"/>
            <a:ext cx="121888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61110" y="4693590"/>
            <a:ext cx="3388493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Heatmap Visualization</a:t>
            </a:r>
            <a:endParaRPr lang="en-US" sz="1666" dirty="0"/>
          </a:p>
        </p:txBody>
      </p:sp>
      <p:sp>
        <p:nvSpPr>
          <p:cNvPr id="29" name="Text 27"/>
          <p:cNvSpPr/>
          <p:nvPr/>
        </p:nvSpPr>
        <p:spPr>
          <a:xfrm>
            <a:off x="4461110" y="5242088"/>
            <a:ext cx="3388493" cy="999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represents crime density on maps, identifying hotspots to support patrol planning.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15267" y="4084149"/>
            <a:ext cx="3717592" cy="2315877"/>
          </a:xfrm>
          <a:prstGeom prst="rect">
            <a:avLst/>
          </a:prstGeom>
          <a:solidFill>
            <a:srgbClr val="14265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31" name="Shape 29"/>
          <p:cNvSpPr/>
          <p:nvPr/>
        </p:nvSpPr>
        <p:spPr>
          <a:xfrm>
            <a:off x="8361533" y="4230415"/>
            <a:ext cx="1218883" cy="341287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32" name="Text 30"/>
          <p:cNvSpPr/>
          <p:nvPr/>
        </p:nvSpPr>
        <p:spPr>
          <a:xfrm>
            <a:off x="8361533" y="4230415"/>
            <a:ext cx="121888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85911" y="4693590"/>
            <a:ext cx="3388493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🚔  Rule-Based Patrol Optimization</a:t>
            </a:r>
            <a:endParaRPr lang="en-US" sz="1666" dirty="0"/>
          </a:p>
        </p:txBody>
      </p:sp>
      <p:sp>
        <p:nvSpPr>
          <p:cNvPr id="34" name="Text 32"/>
          <p:cNvSpPr/>
          <p:nvPr/>
        </p:nvSpPr>
        <p:spPr>
          <a:xfrm>
            <a:off x="8385911" y="5242088"/>
            <a:ext cx="3388493" cy="999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patrol priority based on predicted crime risk, time of day, and crime severity.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97511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4" name="Text 2"/>
          <p:cNvSpPr/>
          <p:nvPr/>
        </p:nvSpPr>
        <p:spPr>
          <a:xfrm>
            <a:off x="548497" y="220293"/>
            <a:ext cx="11091831" cy="112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Proposed Novelty</a:t>
            </a:r>
          </a:p>
          <a:p>
            <a:r>
              <a:rPr lang="en-US" sz="1733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innovations distinguishing this system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609" y="1463552"/>
            <a:ext cx="11335607" cy="1462659"/>
          </a:xfrm>
          <a:prstGeom prst="rect">
            <a:avLst/>
          </a:prstGeom>
          <a:solidFill>
            <a:srgbClr val="0B2A4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6" name="Shape 4"/>
          <p:cNvSpPr/>
          <p:nvPr/>
        </p:nvSpPr>
        <p:spPr>
          <a:xfrm>
            <a:off x="426608" y="1463552"/>
            <a:ext cx="85322" cy="1462659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7" name="Shape 5"/>
          <p:cNvSpPr/>
          <p:nvPr/>
        </p:nvSpPr>
        <p:spPr>
          <a:xfrm>
            <a:off x="670385" y="1585440"/>
            <a:ext cx="670385" cy="670385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8" name="Text 6"/>
          <p:cNvSpPr/>
          <p:nvPr/>
        </p:nvSpPr>
        <p:spPr>
          <a:xfrm>
            <a:off x="670385" y="1585440"/>
            <a:ext cx="670385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1523602" y="1548874"/>
            <a:ext cx="9994837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Time-Aware Micro-Zone Prediction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23602" y="2036427"/>
            <a:ext cx="9994837" cy="755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peak crime hours, weekday vs. weekend patterns, and seasonal variations per micro-zone — enabling pinpoint temporal patrol scheduling that existing literature misses.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6609" y="3109043"/>
            <a:ext cx="11335607" cy="1462659"/>
          </a:xfrm>
          <a:prstGeom prst="rect">
            <a:avLst/>
          </a:prstGeom>
          <a:solidFill>
            <a:srgbClr val="041A17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12" name="Shape 10"/>
          <p:cNvSpPr/>
          <p:nvPr/>
        </p:nvSpPr>
        <p:spPr>
          <a:xfrm>
            <a:off x="426608" y="3109043"/>
            <a:ext cx="85322" cy="1462659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13" name="Shape 11"/>
          <p:cNvSpPr/>
          <p:nvPr/>
        </p:nvSpPr>
        <p:spPr>
          <a:xfrm>
            <a:off x="670385" y="3230932"/>
            <a:ext cx="670385" cy="670385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14" name="Text 12"/>
          <p:cNvSpPr/>
          <p:nvPr/>
        </p:nvSpPr>
        <p:spPr>
          <a:xfrm>
            <a:off x="670385" y="3230932"/>
            <a:ext cx="670385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1523602" y="3194365"/>
            <a:ext cx="9994837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Severity-Weighted Crime Risk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23602" y="3681918"/>
            <a:ext cx="9994837" cy="755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risk scores differentiated by category (violent vs. property), victim impact, and repeat offense patterns — delivering more actionable priority rankings for patrol deployment.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6609" y="4754535"/>
            <a:ext cx="11335607" cy="1462659"/>
          </a:xfrm>
          <a:prstGeom prst="rect">
            <a:avLst/>
          </a:prstGeom>
          <a:solidFill>
            <a:srgbClr val="1A1060"/>
          </a:solidFill>
          <a:ln w="12700">
            <a:solidFill>
              <a:srgbClr val="007A6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399"/>
          </a:p>
        </p:txBody>
      </p:sp>
      <p:sp>
        <p:nvSpPr>
          <p:cNvPr id="18" name="Shape 16"/>
          <p:cNvSpPr/>
          <p:nvPr/>
        </p:nvSpPr>
        <p:spPr>
          <a:xfrm>
            <a:off x="426608" y="4754535"/>
            <a:ext cx="85322" cy="1462659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19" name="Shape 17"/>
          <p:cNvSpPr/>
          <p:nvPr/>
        </p:nvSpPr>
        <p:spPr>
          <a:xfrm>
            <a:off x="670385" y="4876423"/>
            <a:ext cx="670385" cy="670385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20" name="Text 18"/>
          <p:cNvSpPr/>
          <p:nvPr/>
        </p:nvSpPr>
        <p:spPr>
          <a:xfrm>
            <a:off x="670385" y="4876423"/>
            <a:ext cx="670385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33" dirty="0"/>
          </a:p>
        </p:txBody>
      </p:sp>
      <p:sp>
        <p:nvSpPr>
          <p:cNvPr id="21" name="Text 19"/>
          <p:cNvSpPr/>
          <p:nvPr/>
        </p:nvSpPr>
        <p:spPr>
          <a:xfrm>
            <a:off x="1523602" y="4839856"/>
            <a:ext cx="9994837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🚔  Patrol Optimization Recommendations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23602" y="5327410"/>
            <a:ext cx="9994837" cy="755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 are directly converted into operational recommendations specifying where, when, and how many officers to deploy — transforming analytics into real-world decisions.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6609" y="6424404"/>
            <a:ext cx="11335607" cy="341287"/>
          </a:xfrm>
          <a:prstGeom prst="rect">
            <a:avLst/>
          </a:prstGeom>
          <a:solidFill>
            <a:srgbClr val="007A67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sz="2399"/>
          </a:p>
        </p:txBody>
      </p:sp>
      <p:sp>
        <p:nvSpPr>
          <p:cNvPr id="24" name="Text 22"/>
          <p:cNvSpPr/>
          <p:nvPr/>
        </p:nvSpPr>
        <p:spPr>
          <a:xfrm>
            <a:off x="548497" y="6436592"/>
            <a:ext cx="11091831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transforms crime prediction from pure analytics into a proactive decision-support system for law enforcement.</a:t>
            </a:r>
            <a:endParaRPr lang="en-US" sz="146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AA"/>
                </a:solidFill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Exploratory Data Analysis (EDA)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116403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8888AA"/>
                </a:solidFill>
              </a:rPr>
              <a:t>AI-Based Crime Patrolling System  •  VIT Vellore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Top 10 Crime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Frequency distribution of major crime categories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EAEAEA"/>
                </a:solidFill>
              </a:rPr>
              <a:t>• The </a:t>
            </a:r>
            <a:r>
              <a:rPr lang="en-US" sz="1050" dirty="0">
                <a:solidFill>
                  <a:srgbClr val="EAEAEA"/>
                </a:solidFill>
              </a:rPr>
              <a:t>vertical</a:t>
            </a:r>
            <a:r>
              <a:rPr sz="1050" b="0" dirty="0">
                <a:solidFill>
                  <a:srgbClr val="EAEAEA"/>
                </a:solidFill>
              </a:rPr>
              <a:t> bar chart ranks the top 10 crime types by incident count from a 50K-record dataset.
• THEFT dominates (~22%), confirming property crime is the most prevalent challenge for law enforcement.
• BATTERY (physical violence) ranks 2nd, indicating assault-related offences are also frequent.
• CRIMINAL DAMAGE, NARCOTICS, and ASSAULT follow — these five alone account for ~68% of all incidents.
• 🔍 Patrol Insight: Resources should be weighted towards theft/battery prevention zones rather than treating all crime types equally.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883EFA-469E-14B4-E959-A571E2C5F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17" y="1293983"/>
            <a:ext cx="7383287" cy="5015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 Crimes by Hour of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Identifying peak and off-peak criminal activity periods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Line chart with fill shows crime volume per hour across the full dataset.
• Crime is lowest between 4 AM–6 AM (off-peak window) and rises sharply from 7 AM onward.
• A prominent afternoon peak appears at 12 PM–2 PM and an evening peak around 7 PM–9 PM.
• Late-night hours (10 PM–2 AM) maintain elevated activity — particularly for violent crimes.
• 🔍 Patrol Insight: Double patrol shift coverage during 7–9 PM and afternoon slots; reduce resources in early-morning quiet hours.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84FE87-994F-AAB5-67B8-B93C02910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24" y="1164342"/>
            <a:ext cx="7214743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Crimes by Time Slot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Morning / Afternoon / Evening / Night 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Four time buckets aggregate the hourly trend for strategic planning.
• Evening (5 PM–9 PM) and Night (9 PM–5 AM) together account for over 55% of all crime.
• Morning has fewest incidents; Afternoon is mid-range.
• Color-coded bars (yellow=Morning → purple=Night) reinforce the danger escalation pattern.
• 🔍 Patrol Insight: Evening and Night deployments are highest priority. Afternoon patrols should focus on high-theft zones near commercial areas.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2F7E00-B556-7EB4-8485-ECC898DF2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1" y="1078991"/>
            <a:ext cx="7086599" cy="54300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Weekday vs Weekend Crimes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Behavioral difference in crime frequency across the week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Simple comparison reveals that weekdays account for ~71% of all crimes due to 5-day duration.
• However, on a per-day basis, weekend days have higher individual crime rates.
• Weekend crime also skews towards violent/assault types rather than property crimes.
• This distinction informs differential patrol strategies for weekdays vs weekends.
• 🔍 Patrol Insight: Weekends require different crime-type-aware patrol profiles — more anti-violence units, fewer commercial-theft patrols.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3BDEED-2A22-6C61-B295-FDFDC67C9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13" y="1051560"/>
            <a:ext cx="7229003" cy="53812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Crimes by Day of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Day-level breakdown revealing micro-patterns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Bar chart across Monday (0) to Sunday (6) shows relatively even distribution with slight Friday–Saturday elevation.
• Friday sees a notable uptick as the weekend begins — transitional day with mixed crime types.
• Tuesday–Thursday are generally the quietest in absolute terms.
• Sunday morning often sees lingering effects of Saturday night activity.
• 🔍 Patrol Insight: Friday and Saturday warrant proactive surge deployments; mid-week patrols can operate at standard resourcing.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64B522-03C9-0D58-9EF2-3FB5BE5A7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2" y="1051560"/>
            <a:ext cx="7403025" cy="54776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Crime Distribution by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Seasonal and annual crime rhythm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Line chart with area fill plots total monthly crime volume across the year.
• Clear seasonal pattern: crime peaks in summer months (June–August) and dips in winter (Dec–Feb).
• July and August represent the highest-crime months — outdoor activity and heat correlate with elevated incidents.
• February is consistently the lowest month — cold weather acts as a natural deterrent.
• 🔍 Patrol Insight: Increase patrol density in summer quarter. Plan resource augmentation from May and begin drawdown in September.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83DCF1-22E8-8672-2EA7-98615E39F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89" y="1051560"/>
            <a:ext cx="7373379" cy="54300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Crime Volume by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Long-term trend detection across 2019–2023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Year-over-year trend line shows the trajectory of crime volume across the study period.
• A dip in 2020 may be attributable to COVID-19 lockdowns reducing outdoor/public crime.
• Volume recovered and grew through 2022–2023, suggesting a return-to-baseline effect.
• Upward trend in recent years underlines the urgency of predictive systems.
• 🔍 Patrol Insight: Trend data enables long-term force planning — staffing and zone coverage should be scaled upward for 2024–2025 projections.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1168CA5-1749-4EFC-6996-8738BAF27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42" y="1078992"/>
            <a:ext cx="7611537" cy="56014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Arrest vs No Arrest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Proportion of incidents leading to an arrest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Pie chart reveals that only ~28% of crime incidents result in an arrest — a key performance metric.
• 72% of crimes go without an immediate arrest, highlighting enforcement gaps.
• Arrest rate varies significantly by crime type (see G14), informing where resources close the gap.
• Our ML model predicts arrest likelihood per zone/time slot to optimize high-probability deployment.
• 🔍 Patrol Insight: Zones with predicted high arrest probability should be prioritized — ML-driven patrol increases the 28% rate effectively.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ADE87B-0CE2-B1B3-0A19-630268B37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836" y="1263852"/>
            <a:ext cx="5658640" cy="49251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Crime Incident Locations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Geospatial distribution of all recorded incidents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Scatter plot of latitude vs longitude reveals crime locations across the Chicago metropolitan area.
• Points are colored by KMeans zone cluster (0–4), showing distinct spatial groupings.
• Dense clusters form around the city center and certain suburban corridors.
• Sparse regions indicate relatively safe areas requiring minimal patrol resources.
• 🔍 Patrol Insight: This map directly informs zone-based patrol routing — officers should concentrate on cluster-dense regions and avoid over-policing sparse zones.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1D8D4E-CA24-8F1F-C216-784F05E03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9" y="1067935"/>
            <a:ext cx="7468642" cy="55157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 Crime Density Heatmap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KDE-based spatial hotspot identification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Kernel Density Estimation (KDE) visualizes crime concentration as a smooth heatmap.
• The central red/dark zones represent persistent hotspots — areas with consistently high crime across time.
• Multiple secondary hotspots are visible on the periphery, often correlating with transit hubs or commercial zones.
• Outer lighter areas confirm lower crime density.
• 🔍 Patrol Insight: Hotspot overlap with G09 clusters validates zone boundaries. These density peaks are the primary targets for predictive patrol deployment.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618300-23F8-1BA4-FE8F-865E94746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24" y="1007364"/>
            <a:ext cx="7367740" cy="54300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Feature Correlation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Statistical relationships between all analytical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</a:rPr>
              <a:t>AI-Based Crime Patrolling System  •  VIT Vellore  •  Asutosh Shukla 23BDS0248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Heatmap shows pairwise Pearson correlation coefficients between 10 numeric features.
• hour–time_slot_enc shows strong correlation (expected — derived features).
• arrest shows low direct correlation with most features individually — requiring ensemble ML rather than simple rules.
• lat/long show mild zone correlation confirming geographic clustering validity.
• 🔍 Insight: No single feature dominates arrest prediction — the Random Forest ensemble approach is justified by this complex, low-correlation feature space.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0A79EB-E75C-9A30-4283-901A95C4A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1288"/>
            <a:ext cx="7680959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Crime Type Across Time Slots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Stacked bar showing crime composition per time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</a:rPr>
              <a:t>AI-Based Crime Patrolling System  •  VIT Vellore  •  Asutosh Shukla 23BDS0248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Stacked bar reveals which crime types are most active per time slot.
• THEFT dominates across all time slots — particularly in Afternoon and Evening.
• BATTERY and ASSAULT spike in Night slot — violent crime is predominantly nocturnal.
• NARCOTICS-related incidents peak in Evening hours.
• 🔍 Patrol Insight: Deploy anti-theft units in Afternoon zones; shift to anti-violence units in Evening/Night patrols. Time-slot-aware specialization improves effectiveness.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A796231-82A9-69D4-41A0-DF5210C76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73" y="1130808"/>
            <a:ext cx="7361395" cy="53111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Arrest Rate by Crime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Which crimes most frequently result in arrests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</a:rPr>
              <a:t>AI-Based Crime Patrolling System  •  VIT Vellore  •  Asutosh Shukla 23BDS0248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Horizontal bar chart (color-coded green=high to red=low) shows arrest rates per crime category.
• NARCOTICS has the highest arrest rate — law enforcement can act on direct evidence.
• THEFT and CRIMINAL DAMAGE have notably lower arrest rates — evidence challenges limit prosecution.
• ROBBERY sits mid-range; ASSAULT/BATTERY slightly higher due to witness availability.
• 🔍 Insight: Focus patrol on high-arrest-rate crime types to improve overall clearance statistics. Use ML probability scores to supplement low-arrest-rate crime response.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D5286B-FD67-5FCE-1571-B5B239B13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1" y="1085850"/>
            <a:ext cx="6831487" cy="53827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Crime Hour Distribution (Histogram)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Granular hourly frequency 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24-bin histogram provides granular view of crimes at each clock hour.
• Complements the line chart (G02) by showing raw count distribution more clearly.
• The 12 PM and 7 PM bars stand out as the sharpest peaks.
• Very low bars at 3–5 AM confirm the true quiet window for crime.
• 🔍 Patrol Insight: Use this histogram to calibrate shift changeover times — ensuring maximum coverage at 12 PM and 7 PM peak bars rather than during administrative quiet hours.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8E3C9F-03CD-B5F4-6DAB-F59B3FDC3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92" y="1153668"/>
            <a:ext cx="7430537" cy="527758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AA"/>
                </a:solidFill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Clustering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CEC9"/>
                </a:solidFill>
              </a:rPr>
              <a:t>KMeans spatial clustering + DBSCAN hotspot detection + Patrol scheduling heatmaps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Elbow Method &amp; Silhouette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Selecting the optimal number of clusters (K)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LEFT: Inertia decreases as K increases; the "elbow" bend indicates the point of diminishing returns — optimal K is where the curve flattens.
• RIGHT: Silhouette Score measures cluster cohesion (higher = better separated clusters).
• Both metrics converge on K=5 as the optimal value for this dataset.
• This rigorous approach avoids arbitrary cluster selection — a key methodological strength.
• 🔍 Insight: K=5 zones provide enough granularity for targeted patrol without over-fragmenting city coverage.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A2A2BC8-7B6B-1E00-A135-52DD036D4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1153668"/>
            <a:ext cx="7552945" cy="51556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 </a:t>
            </a:r>
            <a:r>
              <a:rPr sz="2400" b="1" dirty="0" err="1">
                <a:solidFill>
                  <a:srgbClr val="FFFFFF"/>
                </a:solidFill>
              </a:rPr>
              <a:t>KMeans</a:t>
            </a:r>
            <a:r>
              <a:rPr sz="2400" b="1" dirty="0">
                <a:solidFill>
                  <a:srgbClr val="FFFFFF"/>
                </a:solidFill>
              </a:rPr>
              <a:t> Clusters — Geographic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Spatial distribution and size of each crime cluster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LEFT: Geographic scatter colored by cluster ID shows 5 spatially distinct zones across the city.
• Each cluster corresponds to a micro-region with shared crime characteristics (type, time, density).
• RIGHT: Bar chart shows crime volume per cluster — some zones are significantly larger hotspots.
• Clusters are non-uniform in size, reflecting the natural concentration of crime in urban geography.
• 🔍 Patrol Insight: High-volume clusters (tallest bars) receive highest patrol priority. Small clusters may need targeted specialist response.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4ABED3-ED40-164E-5460-C9CEF9D70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70788"/>
            <a:ext cx="7635239" cy="49181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</a:rPr>
              <a:t>KMeans</a:t>
            </a:r>
            <a:r>
              <a:rPr sz="2400" b="1" dirty="0">
                <a:solidFill>
                  <a:srgbClr val="FFFFFF"/>
                </a:solidFill>
              </a:rPr>
              <a:t> Cluster Feature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Understanding the behavioural identity of each zone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Normalized heatmap shows how each cluster scores on 7 key features.
• Raw mean values are annotated in each cell — combining visual + quantitative interpretation.
• Some clusters peak in hour (late-night hotspots) while others peak in crime_type diversity.
• The is_weekend and weekday columns reveal which clusters are weekend-dominant vs weekday.
• 🔍 Patrol Insight: Each zone has a unique profile — this table directly translates into customized patrol schedules per zone rather than one-size-fits-all deployment.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E54AAE-4D9B-D595-94A3-702670AF4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744"/>
            <a:ext cx="7726679" cy="451056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Crime Count by Zone × Time Slot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Patrol scheduling guide — where and when to deploy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Heatmap cross-tabulates 5 zones against 4 time slots showing raw crime count in each cell.
• Dark red cells = highest crime density → highest patrol priority.
• Each zone has a distinct peak time slot — no single slot dominates all zones.
• This table is the primary operational output of the clustering analysis.
• 🔍 Direct Use: Law enforcement supervisors can read this table to assign patrol units: Zone 2, Evening → maximum deployment; Zone 0, Morning → minimal coverage.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5DF241-3700-BD5D-5B47-D19B4995E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35" y="1153667"/>
            <a:ext cx="7348273" cy="510941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9242" y="640006"/>
            <a:ext cx="6858000" cy="557798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930" y="395932"/>
            <a:ext cx="6346209" cy="557462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183" y="2819693"/>
            <a:ext cx="2501979" cy="5574628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784" y="853464"/>
            <a:ext cx="6858001" cy="515107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7978" y="1129059"/>
            <a:ext cx="4318303" cy="4317178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60F6A-2840-5D5F-D1E5-516CDCBB5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180" y="586855"/>
            <a:ext cx="4228999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Clustering Analysis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073B1A76-4527-3C20-EF5E-3BA3FCAB6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464" y="649480"/>
            <a:ext cx="4861181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400" b="1"/>
              <a:t>🔹 KMeans Clustering Results</a:t>
            </a:r>
            <a:endParaRPr lang="en-IN" sz="1400"/>
          </a:p>
          <a:p>
            <a:pPr>
              <a:lnSpc>
                <a:spcPct val="90000"/>
              </a:lnSpc>
            </a:pPr>
            <a:r>
              <a:rPr lang="en-IN" sz="1400"/>
              <a:t>Optimal Clusters (K): </a:t>
            </a:r>
            <a:r>
              <a:rPr lang="en-IN" sz="1400" b="1"/>
              <a:t>2</a:t>
            </a:r>
            <a:r>
              <a:rPr lang="en-IN" sz="1400"/>
              <a:t> </a:t>
            </a:r>
            <a:r>
              <a:rPr lang="en-IN" sz="1400" i="1"/>
              <a:t>(based on Silhouette Score)</a:t>
            </a:r>
            <a:r>
              <a:rPr lang="en-IN" sz="1400"/>
              <a:t> </a:t>
            </a:r>
          </a:p>
          <a:p>
            <a:pPr>
              <a:lnSpc>
                <a:spcPct val="90000"/>
              </a:lnSpc>
            </a:pPr>
            <a:r>
              <a:rPr lang="en-IN" sz="1400"/>
              <a:t>Silhouette Score: </a:t>
            </a:r>
            <a:r>
              <a:rPr lang="en-IN" sz="1400" b="1"/>
              <a:t>0.2336</a:t>
            </a:r>
            <a:r>
              <a:rPr lang="en-IN" sz="1400"/>
              <a:t> </a:t>
            </a:r>
            <a:r>
              <a:rPr lang="en-IN" sz="1400" i="1"/>
              <a:t>(moderate clustering quality)</a:t>
            </a:r>
            <a:r>
              <a:rPr lang="en-IN" sz="1400"/>
              <a:t> </a:t>
            </a:r>
          </a:p>
          <a:p>
            <a:pPr>
              <a:lnSpc>
                <a:spcPct val="90000"/>
              </a:lnSpc>
            </a:pPr>
            <a:r>
              <a:rPr lang="en-IN" sz="1400"/>
              <a:t>Davies-Bouldin Index: </a:t>
            </a:r>
            <a:r>
              <a:rPr lang="en-IN" sz="1400" b="1"/>
              <a:t>1.7144</a:t>
            </a:r>
            <a:r>
              <a:rPr lang="en-IN" sz="1400"/>
              <a:t> </a:t>
            </a:r>
          </a:p>
          <a:p>
            <a:pPr>
              <a:lnSpc>
                <a:spcPct val="90000"/>
              </a:lnSpc>
            </a:pPr>
            <a:r>
              <a:rPr lang="en-IN" sz="1400"/>
              <a:t>Dominant Crime Type: </a:t>
            </a:r>
            <a:r>
              <a:rPr lang="en-IN" sz="1400" b="1"/>
              <a:t>THEFT</a:t>
            </a:r>
            <a:r>
              <a:rPr lang="en-IN" sz="1400"/>
              <a:t> in both clusters </a:t>
            </a:r>
          </a:p>
          <a:p>
            <a:pPr lvl="1">
              <a:lnSpc>
                <a:spcPct val="90000"/>
              </a:lnSpc>
            </a:pPr>
            <a:r>
              <a:rPr lang="en-IN" sz="1400"/>
              <a:t>Cluster 0: 3,133 cases </a:t>
            </a:r>
          </a:p>
          <a:p>
            <a:pPr lvl="1">
              <a:lnSpc>
                <a:spcPct val="90000"/>
              </a:lnSpc>
            </a:pPr>
            <a:r>
              <a:rPr lang="en-IN" sz="1400"/>
              <a:t>Cluster 1: 7,928 cases </a:t>
            </a:r>
          </a:p>
          <a:p>
            <a:pPr>
              <a:lnSpc>
                <a:spcPct val="90000"/>
              </a:lnSpc>
            </a:pPr>
            <a:br>
              <a:rPr lang="en-IN" sz="1400"/>
            </a:br>
            <a:endParaRPr lang="en-IN" sz="1400"/>
          </a:p>
          <a:p>
            <a:pPr>
              <a:lnSpc>
                <a:spcPct val="90000"/>
              </a:lnSpc>
            </a:pPr>
            <a:r>
              <a:rPr lang="en-IN" sz="1400" b="1"/>
              <a:t>🔹 Temporal Insights</a:t>
            </a:r>
            <a:endParaRPr lang="en-IN" sz="1400"/>
          </a:p>
          <a:p>
            <a:pPr>
              <a:lnSpc>
                <a:spcPct val="90000"/>
              </a:lnSpc>
            </a:pPr>
            <a:r>
              <a:rPr lang="en-IN" sz="1400"/>
              <a:t>Cluster 0: Peak time → </a:t>
            </a:r>
            <a:r>
              <a:rPr lang="en-IN" sz="1400" b="1"/>
              <a:t>Evening (4778 crimes)</a:t>
            </a:r>
            <a:r>
              <a:rPr lang="en-IN" sz="1400"/>
              <a:t> </a:t>
            </a:r>
          </a:p>
          <a:p>
            <a:pPr>
              <a:lnSpc>
                <a:spcPct val="90000"/>
              </a:lnSpc>
            </a:pPr>
            <a:r>
              <a:rPr lang="en-IN" sz="1400"/>
              <a:t>Cluster 1: Peak time → </a:t>
            </a:r>
            <a:r>
              <a:rPr lang="en-IN" sz="1400" b="1"/>
              <a:t>Afternoon (11,534 crimes)</a:t>
            </a:r>
            <a:r>
              <a:rPr lang="en-IN" sz="1400"/>
              <a:t> </a:t>
            </a:r>
          </a:p>
          <a:p>
            <a:pPr>
              <a:lnSpc>
                <a:spcPct val="90000"/>
              </a:lnSpc>
            </a:pPr>
            <a:r>
              <a:rPr lang="en-IN" sz="1400"/>
              <a:t>Insight: Crime behavior varies by </a:t>
            </a:r>
            <a:r>
              <a:rPr lang="en-IN" sz="1400" b="1"/>
              <a:t>time</a:t>
            </a:r>
            <a:r>
              <a:rPr lang="en-IN" sz="1400"/>
              <a:t>, not just location </a:t>
            </a:r>
          </a:p>
          <a:p>
            <a:pPr>
              <a:lnSpc>
                <a:spcPct val="90000"/>
              </a:lnSpc>
            </a:pPr>
            <a:br>
              <a:rPr lang="en-IN" sz="1400"/>
            </a:br>
            <a:endParaRPr lang="en-IN" sz="1400"/>
          </a:p>
          <a:p>
            <a:pPr>
              <a:lnSpc>
                <a:spcPct val="90000"/>
              </a:lnSpc>
            </a:pPr>
            <a:r>
              <a:rPr lang="en-IN" sz="1400" b="1"/>
              <a:t>🔹 DBSCAN Hotspot Detection</a:t>
            </a:r>
            <a:endParaRPr lang="en-IN" sz="1400"/>
          </a:p>
          <a:p>
            <a:pPr>
              <a:lnSpc>
                <a:spcPct val="90000"/>
              </a:lnSpc>
            </a:pPr>
            <a:r>
              <a:rPr lang="en-IN" sz="1400"/>
              <a:t>Hotspots Identified: </a:t>
            </a:r>
            <a:r>
              <a:rPr lang="en-IN" sz="1400" b="1"/>
              <a:t>70</a:t>
            </a:r>
            <a:r>
              <a:rPr lang="en-IN" sz="1400"/>
              <a:t> </a:t>
            </a:r>
          </a:p>
          <a:p>
            <a:pPr>
              <a:lnSpc>
                <a:spcPct val="90000"/>
              </a:lnSpc>
            </a:pPr>
            <a:r>
              <a:rPr lang="en-IN" sz="1400"/>
              <a:t>Crimes in Hotspots: </a:t>
            </a:r>
            <a:r>
              <a:rPr lang="en-IN" sz="1400" b="1"/>
              <a:t>85.7% (42,861 cases)</a:t>
            </a:r>
            <a:r>
              <a:rPr lang="en-IN" sz="1400"/>
              <a:t> </a:t>
            </a:r>
          </a:p>
          <a:p>
            <a:pPr>
              <a:lnSpc>
                <a:spcPct val="90000"/>
              </a:lnSpc>
            </a:pPr>
            <a:r>
              <a:rPr lang="en-IN" sz="1400"/>
              <a:t>Noise Points: </a:t>
            </a:r>
            <a:r>
              <a:rPr lang="en-IN" sz="1400" b="1"/>
              <a:t>7,139</a:t>
            </a:r>
            <a:r>
              <a:rPr lang="en-IN" sz="1400"/>
              <a:t> </a:t>
            </a:r>
          </a:p>
          <a:p>
            <a:pPr>
              <a:lnSpc>
                <a:spcPct val="90000"/>
              </a:lnSpc>
            </a:pPr>
            <a:r>
              <a:rPr lang="en-IN" sz="1400"/>
              <a:t>Insight: Crimes are </a:t>
            </a:r>
            <a:r>
              <a:rPr lang="en-IN" sz="1400" b="1"/>
              <a:t>highly concentrated geographically</a:t>
            </a:r>
            <a:endParaRPr lang="en-IN" sz="1400"/>
          </a:p>
          <a:p>
            <a:pPr>
              <a:lnSpc>
                <a:spcPct val="90000"/>
              </a:lnSpc>
            </a:pP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3031440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54864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AA"/>
                </a:solidFill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Predictive Modelling &amp; System Novelty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solidFill>
                  <a:srgbClr val="FDCB6E"/>
                </a:solidFill>
              </a:rPr>
              <a:t>Hybrid System</a:t>
            </a:r>
            <a:r>
              <a:rPr sz="1500" b="0" dirty="0">
                <a:solidFill>
                  <a:srgbClr val="FDCB6E"/>
                </a:solidFill>
              </a:rPr>
              <a:t> prediction  •  Arrest probability heatmap  •  Feature importance  •  Severity scoring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</a:rPr>
              <a:t>AI-Based Crime Patrolling System  •  VIT Vellore  •  Asutosh Shukla 23BDS0248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 Arrest Probability by Zone × Time Slot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System novelty: patrol priority score derived from ML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</a:rPr>
              <a:t>AI-Based Crime Patrolling System  •  VIT Vellore  •  Asutosh Shukla 23BDS0248</a:t>
            </a:r>
          </a:p>
        </p:txBody>
      </p:sp>
      <p:pic>
        <p:nvPicPr>
          <p:cNvPr id="9" name="Picture 8" descr="g20_arrest_pr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406640" cy="5349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Heatmap shows the predicted probability of arrest (0.0–1.0) per zone-time combination.
• Green = high arrest probability → productive patrol deployment. Red = low probability.
• This differs from G19 (raw count) — it reflects WHERE action leads to measurable outcomes.
• The combination of crime density (G19) + arrest probability (G20) creates the optimal patrol priority matrix.
• 🔍 System Novelty: This is the core operational output — crossing "where crimes happen" with "where arrests succeed" produces evidence-based patrol recommendations.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 Feature Importance — 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Which inputs most influence arrest prediction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g21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406640" cy="5349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Horizontal bar chart ranks all 9 model features by their contribution to predicting arrests.
• Geographic features (lat, long) rank highly — spatial context strongly predicts outcomes.
• hour and zone also rank prominently, confirming temporal and spatial features drive the model.
• is_weekend and crime_type contribute meaningfully, supporting their inclusion in the feature set.
• 🔍 Insight: The model is geospatially driven — supporting the core thesis that where and when matter more than abstract crime categories alone for predicting law enforcement success.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  Crime Severity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AA"/>
                </a:solidFill>
              </a:rPr>
              <a:t>Weighted risk scoring across crime categories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g22_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406640" cy="5349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818120" y="1051560"/>
            <a:ext cx="406908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📊 Graph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this graph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EAEA"/>
                </a:solidFill>
              </a:rPr>
              <a:t>• Bar chart shows the count of incidents at each severity level (1=Low → 5=Critical).
• Most incidents are Moderate (2) — typical theft/property damage category.
• High (4) and Critical (5) categories — Battery, Assault, Robbery, Homicide — are less frequent but highest priority.
• Low severity (1) covers minor incidents not mapped to key categories.
• 🔍 System Novelty: Severity weighting is integrated into the patrol priority score — a Critical crime in Zone 2 at Night triggers a stronger deployment signal than 10 Moderate thefts in Zone 0 at Morning.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0AE79-AACB-C8D9-E5F1-E8AEB4A5F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00" y="586855"/>
            <a:ext cx="3200532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Predictive Crime Analysis &amp; Patrol Optimization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26AB1-2FD7-F4C8-0EE6-09A3BBDD5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0533" y="649480"/>
            <a:ext cx="3024516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 b="1"/>
              <a:t>Model Performance (Stacking Ensemble)</a:t>
            </a:r>
            <a:endParaRPr lang="en-US" sz="1000"/>
          </a:p>
          <a:p>
            <a:pPr>
              <a:lnSpc>
                <a:spcPct val="90000"/>
              </a:lnSpc>
            </a:pPr>
            <a:r>
              <a:rPr lang="en-US" sz="1000"/>
              <a:t>Accuracy: </a:t>
            </a:r>
            <a:r>
              <a:rPr lang="en-US" sz="1000" b="1"/>
              <a:t>86.72%</a:t>
            </a:r>
            <a:r>
              <a:rPr lang="en-US" sz="1000"/>
              <a:t> </a:t>
            </a:r>
          </a:p>
          <a:p>
            <a:pPr>
              <a:lnSpc>
                <a:spcPct val="90000"/>
              </a:lnSpc>
            </a:pPr>
            <a:r>
              <a:rPr lang="en-US" sz="1000"/>
              <a:t>ROC-AUC Score: </a:t>
            </a:r>
            <a:r>
              <a:rPr lang="en-US" sz="1000" b="1"/>
              <a:t>0.822</a:t>
            </a:r>
            <a:r>
              <a:rPr lang="en-US" sz="1000"/>
              <a:t> </a:t>
            </a:r>
            <a:r>
              <a:rPr lang="en-US" sz="1000" i="1"/>
              <a:t>(good classification capability)</a:t>
            </a:r>
            <a:r>
              <a:rPr lang="en-US" sz="1000"/>
              <a:t> </a:t>
            </a:r>
          </a:p>
          <a:p>
            <a:pPr>
              <a:lnSpc>
                <a:spcPct val="90000"/>
              </a:lnSpc>
            </a:pPr>
            <a:r>
              <a:rPr lang="en-US" sz="1000"/>
              <a:t>Strong overall performance in predicting arrest outcomes </a:t>
            </a:r>
          </a:p>
          <a:p>
            <a:pPr>
              <a:lnSpc>
                <a:spcPct val="90000"/>
              </a:lnSpc>
            </a:pPr>
            <a:br>
              <a:rPr lang="en-US" sz="1000"/>
            </a:br>
            <a:endParaRPr lang="en-US" sz="1000"/>
          </a:p>
          <a:p>
            <a:pPr>
              <a:lnSpc>
                <a:spcPct val="90000"/>
              </a:lnSpc>
            </a:pPr>
            <a:r>
              <a:rPr lang="en-US" sz="1000" b="1"/>
              <a:t>🔹 Classification Insights</a:t>
            </a:r>
            <a:endParaRPr lang="en-US" sz="1000"/>
          </a:p>
          <a:p>
            <a:pPr>
              <a:lnSpc>
                <a:spcPct val="90000"/>
              </a:lnSpc>
            </a:pPr>
            <a:r>
              <a:rPr lang="en-US" sz="1000" b="1"/>
              <a:t>No Arrest</a:t>
            </a:r>
            <a:r>
              <a:rPr lang="en-US" sz="1000"/>
              <a:t> 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Precision: </a:t>
            </a:r>
            <a:r>
              <a:rPr lang="en-US" sz="1000" b="1"/>
              <a:t>0.87</a:t>
            </a:r>
            <a:r>
              <a:rPr lang="en-US" sz="1000"/>
              <a:t>, Recall: </a:t>
            </a:r>
            <a:r>
              <a:rPr lang="en-US" sz="1000" b="1"/>
              <a:t>0.98</a:t>
            </a:r>
            <a:r>
              <a:rPr lang="en-US" sz="1000"/>
              <a:t>, F1: </a:t>
            </a:r>
            <a:r>
              <a:rPr lang="en-US" sz="1000" b="1"/>
              <a:t>0.92</a:t>
            </a:r>
            <a:r>
              <a:rPr lang="en-US" sz="1000"/>
              <a:t> </a:t>
            </a:r>
          </a:p>
          <a:p>
            <a:pPr>
              <a:lnSpc>
                <a:spcPct val="90000"/>
              </a:lnSpc>
            </a:pPr>
            <a:r>
              <a:rPr lang="en-US" sz="1000" b="1"/>
              <a:t>Arrest</a:t>
            </a:r>
            <a:r>
              <a:rPr lang="en-US" sz="1000"/>
              <a:t> 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Precision: </a:t>
            </a:r>
            <a:r>
              <a:rPr lang="en-US" sz="1000" b="1"/>
              <a:t>0.86</a:t>
            </a:r>
            <a:r>
              <a:rPr lang="en-US" sz="1000"/>
              <a:t>, Recall: </a:t>
            </a:r>
            <a:r>
              <a:rPr lang="en-US" sz="1000" b="1"/>
              <a:t>0.47</a:t>
            </a:r>
            <a:r>
              <a:rPr lang="en-US" sz="1000"/>
              <a:t>, F1: </a:t>
            </a:r>
            <a:r>
              <a:rPr lang="en-US" sz="1000" b="1"/>
              <a:t>0.61</a:t>
            </a:r>
            <a:r>
              <a:rPr lang="en-US" sz="1000"/>
              <a:t> </a:t>
            </a:r>
          </a:p>
          <a:p>
            <a:pPr>
              <a:lnSpc>
                <a:spcPct val="90000"/>
              </a:lnSpc>
            </a:pPr>
            <a:r>
              <a:rPr lang="en-US" sz="1000"/>
              <a:t>Insight: Model performs well overall but has </a:t>
            </a:r>
            <a:r>
              <a:rPr lang="en-US" sz="1000" b="1"/>
              <a:t>lower recall for arrest cases</a:t>
            </a:r>
            <a:r>
              <a:rPr lang="en-US" sz="1000"/>
              <a:t> (misses some arrests) </a:t>
            </a:r>
          </a:p>
          <a:p>
            <a:pPr>
              <a:lnSpc>
                <a:spcPct val="90000"/>
              </a:lnSpc>
            </a:pPr>
            <a:br>
              <a:rPr lang="en-US" sz="1000"/>
            </a:br>
            <a:endParaRPr lang="en-US" sz="1000"/>
          </a:p>
          <a:p>
            <a:pPr>
              <a:lnSpc>
                <a:spcPct val="90000"/>
              </a:lnSpc>
            </a:pPr>
            <a:r>
              <a:rPr lang="en-US" sz="1000" b="1"/>
              <a:t>🔹 Patrol Decision Insights</a:t>
            </a:r>
            <a:endParaRPr lang="en-US" sz="1000"/>
          </a:p>
          <a:p>
            <a:pPr>
              <a:lnSpc>
                <a:spcPct val="90000"/>
              </a:lnSpc>
            </a:pPr>
            <a:r>
              <a:rPr lang="en-US" sz="1000"/>
              <a:t>Highest Risk Zone-Time: </a:t>
            </a:r>
          </a:p>
          <a:p>
            <a:pPr lvl="1">
              <a:lnSpc>
                <a:spcPct val="90000"/>
              </a:lnSpc>
            </a:pPr>
            <a:r>
              <a:rPr lang="en-US" sz="1000"/>
              <a:t>Zone 4 – Evening → </a:t>
            </a:r>
            <a:r>
              <a:rPr lang="en-US" sz="1000" b="1"/>
              <a:t>Medium Likelihood (0.336)</a:t>
            </a:r>
            <a:r>
              <a:rPr lang="en-US" sz="1000"/>
              <a:t> </a:t>
            </a:r>
          </a:p>
          <a:p>
            <a:pPr>
              <a:lnSpc>
                <a:spcPct val="90000"/>
              </a:lnSpc>
            </a:pPr>
            <a:r>
              <a:rPr lang="en-US" sz="1000"/>
              <a:t>Most zones show </a:t>
            </a:r>
            <a:r>
              <a:rPr lang="en-US" sz="1000" b="1"/>
              <a:t>Low Arrest Likelihood</a:t>
            </a:r>
            <a:r>
              <a:rPr lang="en-US" sz="1000"/>
              <a:t> </a:t>
            </a:r>
          </a:p>
          <a:p>
            <a:pPr>
              <a:lnSpc>
                <a:spcPct val="90000"/>
              </a:lnSpc>
            </a:pPr>
            <a:r>
              <a:rPr lang="en-US" sz="1000"/>
              <a:t>High crime counts do </a:t>
            </a:r>
            <a:r>
              <a:rPr lang="en-US" sz="1000" b="1"/>
              <a:t>not always mean high arrest probability</a:t>
            </a:r>
            <a:r>
              <a:rPr lang="en-US" sz="1000"/>
              <a:t> </a:t>
            </a:r>
          </a:p>
          <a:p>
            <a:pPr>
              <a:lnSpc>
                <a:spcPct val="90000"/>
              </a:lnSpc>
            </a:pPr>
            <a:br>
              <a:rPr lang="en-US" sz="1000"/>
            </a:br>
            <a:endParaRPr lang="en-US" sz="1000"/>
          </a:p>
          <a:p>
            <a:pPr>
              <a:lnSpc>
                <a:spcPct val="90000"/>
              </a:lnSpc>
            </a:pPr>
            <a:r>
              <a:rPr lang="en-US" sz="1000" b="1"/>
              <a:t>🔹 Key Observations</a:t>
            </a:r>
            <a:endParaRPr lang="en-US" sz="1000"/>
          </a:p>
          <a:p>
            <a:pPr>
              <a:lnSpc>
                <a:spcPct val="90000"/>
              </a:lnSpc>
            </a:pPr>
            <a:r>
              <a:rPr lang="en-US" sz="1000"/>
              <a:t>Arrest prediction is </a:t>
            </a:r>
            <a:r>
              <a:rPr lang="en-US" sz="1000" b="1"/>
              <a:t>imbalanced</a:t>
            </a:r>
            <a:r>
              <a:rPr lang="en-US" sz="1000"/>
              <a:t> (fewer arrest cases) </a:t>
            </a:r>
          </a:p>
          <a:p>
            <a:pPr>
              <a:lnSpc>
                <a:spcPct val="90000"/>
              </a:lnSpc>
            </a:pPr>
            <a:r>
              <a:rPr lang="en-US" sz="1000"/>
              <a:t>Model is better at predicting </a:t>
            </a:r>
            <a:r>
              <a:rPr lang="en-US" sz="1000" b="1"/>
              <a:t>No Arrest</a:t>
            </a:r>
            <a:r>
              <a:rPr lang="en-US" sz="1000"/>
              <a:t> than Arrest </a:t>
            </a:r>
          </a:p>
          <a:p>
            <a:pPr>
              <a:lnSpc>
                <a:spcPct val="90000"/>
              </a:lnSpc>
            </a:pPr>
            <a:r>
              <a:rPr lang="en-US" sz="1000"/>
              <a:t>Certain zone-time combinations show </a:t>
            </a:r>
            <a:r>
              <a:rPr lang="en-US" sz="1000" b="1"/>
              <a:t>higher enforcement potential</a:t>
            </a:r>
            <a:r>
              <a:rPr lang="en-US" sz="1000"/>
              <a:t> </a:t>
            </a:r>
          </a:p>
          <a:p>
            <a:pPr>
              <a:lnSpc>
                <a:spcPct val="90000"/>
              </a:lnSpc>
            </a:pPr>
            <a:endParaRPr lang="en-IN" sz="1000"/>
          </a:p>
        </p:txBody>
      </p:sp>
      <p:pic>
        <p:nvPicPr>
          <p:cNvPr id="24" name="Graphic 23" descr="Captain">
            <a:extLst>
              <a:ext uri="{FF2B5EF4-FFF2-40B4-BE49-F238E27FC236}">
                <a16:creationId xmlns:a16="http://schemas.microsoft.com/office/drawing/2014/main" id="{571E9989-ED39-FCF4-8CE1-08D0EE5CB4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7390" y="1627522"/>
            <a:ext cx="3614834" cy="361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441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AA"/>
                </a:solidFill>
              </a:rPr>
              <a:t>SECTION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Tableau Dashboard Visualizations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CEC9"/>
                </a:solidFill>
              </a:rPr>
              <a:t>5 interactive Tableau graphs — to be embedded after export from Tableau Desktop / Tableau Public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Zone wise risk </a:t>
            </a:r>
            <a:r>
              <a:rPr sz="2400" b="1" dirty="0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7680960" cy="534924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768096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6400800"/>
            <a:ext cx="768096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051560"/>
            <a:ext cx="25400" cy="5349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27848" y="1051560"/>
            <a:ext cx="25400" cy="5349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66"/>
                </a:solidFill>
              </a:rPr>
              <a:t>📸  INSERT TABLEAU SCREENSHOT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66"/>
                </a:solidFill>
              </a:rPr>
              <a:t>Export as PNG from Tableau → Paste/Insert into this slide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2860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22244"/>
                </a:solidFill>
              </a:rPr>
              <a:t>[T1]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051560"/>
            <a:ext cx="379476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📋 How to Add This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5448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AEAEA"/>
                </a:solidFill>
              </a:rPr>
              <a:t>Purpose: Replace this placeholder with your Tableau map screenshot.
This slide is designed for a full-screen Tableau map showing crime density across all zones with interactive filters for time slot and crime type.
Suggested Tableau Chart Type: Filled Map / Symbol Map with color-coded density and zone labels.
How to export:
1. In Tableau, go to Dashboard → Export → Image
2. Save as PNG at 1920×1080 resolution
3. Paste/insert into this slide replacing the placeholder box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D929231-849E-F0E4-F113-288938154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65" y="1128268"/>
            <a:ext cx="11521440" cy="529793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Dashboard 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7680960" cy="534924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768096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6400800"/>
            <a:ext cx="768096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051560"/>
            <a:ext cx="25400" cy="5349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27848" y="1051560"/>
            <a:ext cx="25400" cy="5349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66"/>
                </a:solidFill>
              </a:rPr>
              <a:t>📸  INSERT TABLEAU SCREENSHOT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66"/>
                </a:solidFill>
              </a:rPr>
              <a:t>Export as PNG from Tableau → Paste/Insert into this slide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2860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22244"/>
                </a:solidFill>
              </a:rPr>
              <a:t>[T2]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051560"/>
            <a:ext cx="379476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E5C25EA-9FC2-2824-9EFF-956F7B647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32764"/>
            <a:ext cx="11457305" cy="554024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T</a:t>
            </a:r>
            <a:r>
              <a:rPr lang="en-US" sz="2400" b="1" dirty="0">
                <a:solidFill>
                  <a:srgbClr val="FFFFFF"/>
                </a:solidFill>
              </a:rPr>
              <a:t>ime Analysis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768096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6400800"/>
            <a:ext cx="768096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051560"/>
            <a:ext cx="25400" cy="5349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27848" y="1051560"/>
            <a:ext cx="25400" cy="5349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66"/>
                </a:solidFill>
              </a:rPr>
              <a:t>📸  INSERT TABLEAU SCREENSHOT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66"/>
                </a:solidFill>
              </a:rPr>
              <a:t>Export as PNG from Tableau → Paste/Insert into this slide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2860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222244"/>
                </a:solidFill>
              </a:rPr>
              <a:t>[T4]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1F54C2D-749C-8CCF-F604-06838EE49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67892"/>
            <a:ext cx="11223625" cy="499922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Petrol Decision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768096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6400800"/>
            <a:ext cx="768096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051560"/>
            <a:ext cx="25400" cy="5349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27848" y="1051560"/>
            <a:ext cx="25400" cy="5349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66"/>
                </a:solidFill>
              </a:rPr>
              <a:t>📸  INSERT TABLEAU SCREENSHOT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66"/>
                </a:solidFill>
              </a:rPr>
              <a:t>Export as PNG from Tableau → Paste/Insert into this slide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2860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22244"/>
                </a:solidFill>
              </a:rPr>
              <a:t>[T3]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051560"/>
            <a:ext cx="3794760" cy="5349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11897E7-5F34-F09B-FD55-194A30189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3272"/>
            <a:ext cx="11073384" cy="547573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Zone wise Risk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768096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6400800"/>
            <a:ext cx="768096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051560"/>
            <a:ext cx="25400" cy="5349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27848" y="1051560"/>
            <a:ext cx="25400" cy="5349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44466"/>
                </a:solidFill>
              </a:rPr>
              <a:t>📸  INSERT TABLEAU SCREENSHOT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66"/>
                </a:solidFill>
              </a:rPr>
              <a:t>Export as PNG from Tableau → Paste/Insert into this slide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28600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222244"/>
                </a:solidFill>
              </a:rPr>
              <a:t>[T5]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556EDFE-05A1-54B2-5221-A9EB90593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" y="970787"/>
            <a:ext cx="12174649" cy="584005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78408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Conclusion &amp;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66928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5394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CEC9"/>
                </a:solidFill>
              </a:rPr>
              <a:t>🔍   EDA Graphs Generated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AEAEA"/>
                </a:solidFill>
              </a:rPr>
              <a:t>Comprehensive visual analysis covering temporal, spatial, crime-type, and arrest dimensions from 50K+ incident records.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66928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394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CEC9"/>
                </a:solidFill>
              </a:rPr>
              <a:t>🗺️  K-Means Zoning (K=</a:t>
            </a:r>
            <a:r>
              <a:rPr lang="en-US" sz="1300" b="1" dirty="0">
                <a:solidFill>
                  <a:srgbClr val="00CEC9"/>
                </a:solidFill>
              </a:rPr>
              <a:t>2</a:t>
            </a:r>
            <a:r>
              <a:rPr sz="1300" b="1" dirty="0">
                <a:solidFill>
                  <a:srgbClr val="00CEC9"/>
                </a:solidFill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AEAEA"/>
                </a:solidFill>
              </a:rPr>
              <a:t>City divided into 5 data-driven patrol zones validated by Elbow Method and Silhouette Score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71800"/>
            <a:ext cx="566928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3063240"/>
            <a:ext cx="5394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CEC9"/>
                </a:solidFill>
              </a:rPr>
              <a:t>🤖  </a:t>
            </a:r>
            <a:r>
              <a:rPr lang="en-US" sz="1300" b="1" dirty="0">
                <a:solidFill>
                  <a:srgbClr val="00CEC9"/>
                </a:solidFill>
              </a:rPr>
              <a:t>Hybrid System </a:t>
            </a:r>
            <a:r>
              <a:rPr sz="1300" b="1" dirty="0">
                <a:solidFill>
                  <a:srgbClr val="00CEC9"/>
                </a:solidFill>
              </a:rPr>
              <a:t>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7472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AEAEA"/>
                </a:solidFill>
              </a:rPr>
              <a:t>ML model predicts arrest probability per zone-time slot, transforming predictions into actionable patrol deployment.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971800"/>
            <a:ext cx="566928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30632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EC9"/>
                </a:solidFill>
              </a:rPr>
              <a:t>⚖️  Severity-Weighted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47472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AEAEA"/>
                </a:solidFill>
              </a:rPr>
              <a:t>Violent crimes (Battery, Robbery, Homicide) weighted 4–5× over minor incidents for priority-based resource allocation.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54880"/>
            <a:ext cx="566928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846320"/>
            <a:ext cx="5394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CEC9"/>
                </a:solidFill>
              </a:rPr>
              <a:t>📊  Tableau </a:t>
            </a:r>
            <a:r>
              <a:rPr sz="1300" b="1">
                <a:solidFill>
                  <a:srgbClr val="00CEC9"/>
                </a:solidFill>
              </a:rPr>
              <a:t>Dashboard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257800"/>
            <a:ext cx="5394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EAEAEA"/>
                </a:solidFill>
              </a:rPr>
              <a:t>Interactive visualizations designed for law enforcement supervisors — add Tableau PNG exports to T slides.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754880"/>
            <a:ext cx="566928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48463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EC9"/>
                </a:solidFill>
              </a:rPr>
              <a:t>🚔  Proactive Policing Enabled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2578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AEAEA"/>
                </a:solidFill>
              </a:rPr>
              <a:t>System converts historical data → zone profiles → time-aware patrol schedules, closing the prediction-to-action gap in literature.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3749</Words>
  <Application>Microsoft Office PowerPoint</Application>
  <PresentationFormat>Custom</PresentationFormat>
  <Paragraphs>273</Paragraphs>
  <Slides>38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Clustering Analysis</vt:lpstr>
      <vt:lpstr>PowerPoint Presentation</vt:lpstr>
      <vt:lpstr>PowerPoint Presentation</vt:lpstr>
      <vt:lpstr>PowerPoint Presentation</vt:lpstr>
      <vt:lpstr>PowerPoint Presentation</vt:lpstr>
      <vt:lpstr>Predictive Crime Analysis &amp; Patrol Optimization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Ashutosh Shukla</cp:lastModifiedBy>
  <cp:revision>23</cp:revision>
  <dcterms:created xsi:type="dcterms:W3CDTF">2013-01-27T09:14:16Z</dcterms:created>
  <dcterms:modified xsi:type="dcterms:W3CDTF">2026-07-28T18:26:54Z</dcterms:modified>
  <cp:category/>
</cp:coreProperties>
</file>